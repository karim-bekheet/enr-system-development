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8288000" cy="10287000"/>
  <p:notesSz cx="6858000" cy="9144000"/>
  <p:embeddedFontLst>
    <p:embeddedFont>
      <p:font typeface="DM Sans" pitchFamily="2" charset="0"/>
      <p:regular r:id="rId19"/>
    </p:embeddedFont>
    <p:embeddedFont>
      <p:font typeface="Kollektif" panose="020B0604020101010102" pitchFamily="34" charset="0"/>
      <p:regular r:id="rId20"/>
      <p:bold r:id="rId21"/>
      <p:italic r:id="rId22"/>
      <p:boldItalic r:id="rId23"/>
    </p:embeddedFont>
    <p:embeddedFont>
      <p:font typeface="Kollektif Bold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430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sv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ocs.google.com/document/d/17dko1MRVytv7-Rt0TMYe-2EokvI3njuY/edit?usp=drive_link&amp;ouid=114800261122689096382&amp;rtpof=true&amp;sd=true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ocs.google.com/document/d/12wIc2IN7vgCwo72FUilMf7Xn-83vEsWt/edit?usp=drive_link&amp;ouid=114800261122689096382&amp;rtpof=true&amp;sd=true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ocs.google.com/document/d/170KdM7R-tA_gsdLPyaEXH6nlzhiqAxO5/edit?usp=drive_link&amp;ouid=114800261122689096382&amp;rtpof=true&amp;sd=true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ocs.google.com/document/d/14n_guXI9yreFKuh_OIqqa_o6BicOqDM7/edit?usp=drive_link&amp;ouid=114800261122689096382&amp;rtpof=true&amp;sd=true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XSGKfIJdIgRlo9EC897MNk7KQNgdM1EJ/view?usp=drive_link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Z7NKdow9bvzEUJ4LkVzAzbi7wt-tBI8C/view?usp=drive_link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3L3a7UVdBu6BrBVoMKFkzLMyqF4fiQJz/view?usp=drive_link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H0mvv4LRFF2aOO5o74J8rbuMDazCQU5p/view?usp=drive_link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VoqACLA3XHTgUgTA8NdooV_qYNxtMKFy/view?usp=drive_link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jM3lBSN3_FLS3wC6LegJm2N8QhEYAiyy/view?usp=drive_link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ocs.google.com/document/d/1WHhnkEMEffrwya_9nbC9zhoHW_BhIhB1/edit?usp=drive_link&amp;ouid=114800261122689096382&amp;rtpof=true&amp;sd=true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2djE8UK3x0xuIkVjSCr6BpQFV7iF9bwz/view?usp=driv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hyperlink" Target="https://github.com/Karim-Bekheet/ENR-System-Developme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drive/folders/1IVc6e8ogkc6ham_QMwnqIlYXSIXzOiN2?usp=drive_link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4131544" y="7969488"/>
            <a:ext cx="5132702" cy="5185216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4444220" y="8329798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4802690" y="8681112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642416" y="2047852"/>
            <a:ext cx="11242115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 dirty="0">
                <a:solidFill>
                  <a:srgbClr val="227C9D"/>
                </a:solidFill>
                <a:latin typeface="Kollektif" panose="020B0604020101010102" pitchFamily="34" charset="0"/>
                <a:ea typeface="Kollektif Bold"/>
                <a:cs typeface="Kollektif Bold"/>
                <a:sym typeface="Kollektif Bold"/>
              </a:rPr>
              <a:t>ENR</a:t>
            </a:r>
            <a:r>
              <a:rPr lang="en-US" sz="9999" b="1" dirty="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SYSTEM DEVELOPMENT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4871" y="6506806"/>
            <a:ext cx="7312284" cy="193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8"/>
              </a:lnSpc>
              <a:spcBef>
                <a:spcPct val="0"/>
              </a:spcBef>
            </a:pPr>
            <a:r>
              <a:rPr lang="en-US" sz="3353" b="1" u="none" strike="noStrike" dirty="0">
                <a:solidFill>
                  <a:srgbClr val="545454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TEAM MEMBERS:</a:t>
            </a:r>
          </a:p>
          <a:p>
            <a:pPr marL="0" lvl="0" indent="0" algn="ctr">
              <a:lnSpc>
                <a:spcPts val="3688"/>
              </a:lnSpc>
              <a:spcBef>
                <a:spcPct val="0"/>
              </a:spcBef>
            </a:pPr>
            <a:r>
              <a:rPr lang="en-US" sz="3353" b="1" u="none" strike="noStrike" dirty="0">
                <a:solidFill>
                  <a:srgbClr val="FE6D73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KARIM MOHAMED BEKHEET</a:t>
            </a:r>
          </a:p>
          <a:p>
            <a:pPr marL="0" lvl="0" indent="0" algn="ctr">
              <a:lnSpc>
                <a:spcPts val="3688"/>
              </a:lnSpc>
              <a:spcBef>
                <a:spcPct val="0"/>
              </a:spcBef>
            </a:pPr>
            <a:r>
              <a:rPr lang="en-US" sz="3353" b="1" u="none" strike="noStrike" dirty="0">
                <a:solidFill>
                  <a:srgbClr val="FE6D73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MARK REFAAT SADEQ</a:t>
            </a:r>
          </a:p>
          <a:p>
            <a:pPr marL="0" lvl="0" indent="0" algn="ctr">
              <a:lnSpc>
                <a:spcPts val="3688"/>
              </a:lnSpc>
              <a:spcBef>
                <a:spcPct val="0"/>
              </a:spcBef>
            </a:pPr>
            <a:r>
              <a:rPr lang="en-US" sz="3353" b="1" u="none" strike="noStrike" dirty="0">
                <a:solidFill>
                  <a:srgbClr val="FE6D73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ZEINAB MOHAMED ABD EL HAKEM</a:t>
            </a:r>
          </a:p>
        </p:txBody>
      </p:sp>
      <p:sp>
        <p:nvSpPr>
          <p:cNvPr id="10" name="Freeform 10"/>
          <p:cNvSpPr/>
          <p:nvPr/>
        </p:nvSpPr>
        <p:spPr>
          <a:xfrm rot="-10800000">
            <a:off x="9525" y="635835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83809" y="638693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74707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800000">
            <a:off x="0" y="85545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083809" y="85545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10800000">
            <a:off x="1083809" y="962372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-10800000">
            <a:off x="3321750" y="85831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321750" y="749931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5400000">
            <a:off x="4405559" y="85831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2237941" y="966693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3321750" y="966693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5400000">
            <a:off x="0" y="963835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5400000">
            <a:off x="15470622" y="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-5400000">
            <a:off x="16554431" y="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flipH="1" flipV="1">
            <a:off x="17638239" y="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-5400000">
            <a:off x="14386813" y="10838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 rot="-5400000">
            <a:off x="15470622" y="10838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6554431" y="216761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5400000">
            <a:off x="17638239" y="10838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5400000" flipH="1" flipV="1">
            <a:off x="17638239" y="216761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 flipH="1" flipV="1">
            <a:off x="15470622" y="44334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 rot="5400000" flipH="1" flipV="1">
            <a:off x="16554431" y="44334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35" name="AutoShape 35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710979" y="2112509"/>
            <a:ext cx="12866041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 dirty="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PROJECT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63654" y="4900158"/>
            <a:ext cx="10719600" cy="335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This project has been initiated to enhance passenger experience by developing a digital ticketing system accessible via a web app, mobile app, and desktop app. The system aims to improve ticket booking, provide real-time train tracking, and offer additional services such as seat selection, healthcare, and meal reservations. The implementation of this system will streamline operations, increase ticket sales, and provide a more efficient and modern travel experience for customers.</a:t>
            </a:r>
          </a:p>
        </p:txBody>
      </p:sp>
      <p:grpSp>
        <p:nvGrpSpPr>
          <p:cNvPr id="12" name="Group 12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7204191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5400000" flipH="1" flipV="1">
            <a:off x="17204191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6120382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5400000">
            <a:off x="15036573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0800000">
            <a:off x="16120382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-10800000" flipH="1" flipV="1">
            <a:off x="15036573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 rot="5400000" flipH="1" flipV="1">
            <a:off x="12770705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 rot="-10800000" flipH="1" flipV="1">
            <a:off x="12770705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-10800000">
            <a:off x="9525" y="704415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083809" y="707273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-5400000">
            <a:off x="1083809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rot="-10800000">
            <a:off x="3321750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3321750" y="818511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 rot="5400000">
            <a:off x="4405559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630555"/>
            <a:ext cx="6241303" cy="1027869"/>
            <a:chOff x="0" y="0"/>
            <a:chExt cx="1643800" cy="270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3800" cy="270714"/>
            </a:xfrm>
            <a:custGeom>
              <a:avLst/>
              <a:gdLst/>
              <a:ahLst/>
              <a:cxnLst/>
              <a:rect l="l" t="t" r="r" b="b"/>
              <a:pathLst>
                <a:path w="1643800" h="270714">
                  <a:moveTo>
                    <a:pt x="63262" y="0"/>
                  </a:moveTo>
                  <a:lnTo>
                    <a:pt x="1580538" y="0"/>
                  </a:lnTo>
                  <a:cubicBezTo>
                    <a:pt x="1615477" y="0"/>
                    <a:pt x="1643800" y="28323"/>
                    <a:pt x="1643800" y="63262"/>
                  </a:cubicBezTo>
                  <a:lnTo>
                    <a:pt x="1643800" y="207452"/>
                  </a:lnTo>
                  <a:cubicBezTo>
                    <a:pt x="1643800" y="242391"/>
                    <a:pt x="1615477" y="270714"/>
                    <a:pt x="1580538" y="270714"/>
                  </a:cubicBezTo>
                  <a:lnTo>
                    <a:pt x="63262" y="270714"/>
                  </a:lnTo>
                  <a:cubicBezTo>
                    <a:pt x="28323" y="270714"/>
                    <a:pt x="0" y="242391"/>
                    <a:pt x="0" y="207452"/>
                  </a:cubicBezTo>
                  <a:lnTo>
                    <a:pt x="0" y="63262"/>
                  </a:lnTo>
                  <a:cubicBezTo>
                    <a:pt x="0" y="28323"/>
                    <a:pt x="28323" y="0"/>
                    <a:pt x="63262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643800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115624"/>
            <a:ext cx="6241303" cy="1027869"/>
            <a:chOff x="0" y="0"/>
            <a:chExt cx="1643800" cy="270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3800" cy="270714"/>
            </a:xfrm>
            <a:custGeom>
              <a:avLst/>
              <a:gdLst/>
              <a:ahLst/>
              <a:cxnLst/>
              <a:rect l="l" t="t" r="r" b="b"/>
              <a:pathLst>
                <a:path w="1643800" h="270714">
                  <a:moveTo>
                    <a:pt x="63262" y="0"/>
                  </a:moveTo>
                  <a:lnTo>
                    <a:pt x="1580538" y="0"/>
                  </a:lnTo>
                  <a:cubicBezTo>
                    <a:pt x="1615477" y="0"/>
                    <a:pt x="1643800" y="28323"/>
                    <a:pt x="1643800" y="63262"/>
                  </a:cubicBezTo>
                  <a:lnTo>
                    <a:pt x="1643800" y="207452"/>
                  </a:lnTo>
                  <a:cubicBezTo>
                    <a:pt x="1643800" y="242391"/>
                    <a:pt x="1615477" y="270714"/>
                    <a:pt x="1580538" y="270714"/>
                  </a:cubicBezTo>
                  <a:lnTo>
                    <a:pt x="63262" y="270714"/>
                  </a:lnTo>
                  <a:cubicBezTo>
                    <a:pt x="28323" y="270714"/>
                    <a:pt x="0" y="242391"/>
                    <a:pt x="0" y="207452"/>
                  </a:cubicBezTo>
                  <a:lnTo>
                    <a:pt x="0" y="63262"/>
                  </a:lnTo>
                  <a:cubicBezTo>
                    <a:pt x="0" y="28323"/>
                    <a:pt x="28323" y="0"/>
                    <a:pt x="63262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643800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204191" y="813748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204191" y="922129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120382" y="813748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5400000" flipH="1" flipV="1">
            <a:off x="13262829" y="711562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2072211"/>
            <a:ext cx="7706220" cy="1321972"/>
            <a:chOff x="0" y="0"/>
            <a:chExt cx="2029622" cy="3481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9622" cy="348174"/>
            </a:xfrm>
            <a:custGeom>
              <a:avLst/>
              <a:gdLst/>
              <a:ahLst/>
              <a:cxnLst/>
              <a:rect l="l" t="t" r="r" b="b"/>
              <a:pathLst>
                <a:path w="2029622" h="348174">
                  <a:moveTo>
                    <a:pt x="51236" y="0"/>
                  </a:moveTo>
                  <a:lnTo>
                    <a:pt x="1978385" y="0"/>
                  </a:lnTo>
                  <a:cubicBezTo>
                    <a:pt x="1991974" y="0"/>
                    <a:pt x="2005006" y="5398"/>
                    <a:pt x="2014615" y="15007"/>
                  </a:cubicBezTo>
                  <a:cubicBezTo>
                    <a:pt x="2024224" y="24615"/>
                    <a:pt x="2029622" y="37648"/>
                    <a:pt x="2029622" y="51236"/>
                  </a:cubicBezTo>
                  <a:lnTo>
                    <a:pt x="2029622" y="296937"/>
                  </a:lnTo>
                  <a:cubicBezTo>
                    <a:pt x="2029622" y="310526"/>
                    <a:pt x="2024224" y="323558"/>
                    <a:pt x="2014615" y="333167"/>
                  </a:cubicBezTo>
                  <a:cubicBezTo>
                    <a:pt x="2005006" y="342776"/>
                    <a:pt x="1991974" y="348174"/>
                    <a:pt x="1978385" y="348174"/>
                  </a:cubicBezTo>
                  <a:lnTo>
                    <a:pt x="51236" y="348174"/>
                  </a:lnTo>
                  <a:cubicBezTo>
                    <a:pt x="37648" y="348174"/>
                    <a:pt x="24615" y="342776"/>
                    <a:pt x="15007" y="333167"/>
                  </a:cubicBezTo>
                  <a:cubicBezTo>
                    <a:pt x="5398" y="323558"/>
                    <a:pt x="0" y="310526"/>
                    <a:pt x="0" y="296937"/>
                  </a:cubicBezTo>
                  <a:lnTo>
                    <a:pt x="0" y="51236"/>
                  </a:lnTo>
                  <a:cubicBezTo>
                    <a:pt x="0" y="37648"/>
                    <a:pt x="5398" y="24615"/>
                    <a:pt x="15007" y="15007"/>
                  </a:cubicBezTo>
                  <a:cubicBezTo>
                    <a:pt x="24615" y="5398"/>
                    <a:pt x="37648" y="0"/>
                    <a:pt x="51236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2029622" cy="329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2270" y="2273408"/>
            <a:ext cx="7143256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02 - TECHNICAL FEASIBLILTY       STUDY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3352" y="5831752"/>
            <a:ext cx="5886651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04 - INTERVIEW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9779" y="7316821"/>
            <a:ext cx="5410191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05 - QUESTIONNAIRE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8600693"/>
            <a:ext cx="6731136" cy="1027869"/>
            <a:chOff x="0" y="0"/>
            <a:chExt cx="1772810" cy="2707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72809" cy="270714"/>
            </a:xfrm>
            <a:custGeom>
              <a:avLst/>
              <a:gdLst/>
              <a:ahLst/>
              <a:cxnLst/>
              <a:rect l="l" t="t" r="r" b="b"/>
              <a:pathLst>
                <a:path w="1772809" h="270714">
                  <a:moveTo>
                    <a:pt x="58658" y="0"/>
                  </a:moveTo>
                  <a:lnTo>
                    <a:pt x="1714151" y="0"/>
                  </a:lnTo>
                  <a:cubicBezTo>
                    <a:pt x="1746547" y="0"/>
                    <a:pt x="1772809" y="26262"/>
                    <a:pt x="1772809" y="58658"/>
                  </a:cubicBezTo>
                  <a:lnTo>
                    <a:pt x="1772809" y="212056"/>
                  </a:lnTo>
                  <a:cubicBezTo>
                    <a:pt x="1772809" y="227613"/>
                    <a:pt x="1766629" y="242533"/>
                    <a:pt x="1755629" y="253534"/>
                  </a:cubicBezTo>
                  <a:cubicBezTo>
                    <a:pt x="1744628" y="264534"/>
                    <a:pt x="1729708" y="270714"/>
                    <a:pt x="1714151" y="270714"/>
                  </a:cubicBezTo>
                  <a:lnTo>
                    <a:pt x="58658" y="270714"/>
                  </a:lnTo>
                  <a:cubicBezTo>
                    <a:pt x="43101" y="270714"/>
                    <a:pt x="28181" y="264534"/>
                    <a:pt x="17181" y="253534"/>
                  </a:cubicBezTo>
                  <a:cubicBezTo>
                    <a:pt x="6180" y="242533"/>
                    <a:pt x="0" y="227613"/>
                    <a:pt x="0" y="212056"/>
                  </a:cubicBezTo>
                  <a:lnTo>
                    <a:pt x="0" y="58658"/>
                  </a:lnTo>
                  <a:cubicBezTo>
                    <a:pt x="0" y="43101"/>
                    <a:pt x="6180" y="28181"/>
                    <a:pt x="17181" y="17181"/>
                  </a:cubicBezTo>
                  <a:cubicBezTo>
                    <a:pt x="28181" y="6180"/>
                    <a:pt x="43101" y="0"/>
                    <a:pt x="58658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1772810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20824" y="8801889"/>
            <a:ext cx="623901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06 - CONTEXT DIAGRAM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432585" y="588730"/>
            <a:ext cx="7486826" cy="1027869"/>
            <a:chOff x="0" y="0"/>
            <a:chExt cx="1971839" cy="2707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71839" cy="270714"/>
            </a:xfrm>
            <a:custGeom>
              <a:avLst/>
              <a:gdLst/>
              <a:ahLst/>
              <a:cxnLst/>
              <a:rect l="l" t="t" r="r" b="b"/>
              <a:pathLst>
                <a:path w="1971839" h="270714">
                  <a:moveTo>
                    <a:pt x="52738" y="0"/>
                  </a:moveTo>
                  <a:lnTo>
                    <a:pt x="1919101" y="0"/>
                  </a:lnTo>
                  <a:cubicBezTo>
                    <a:pt x="1933088" y="0"/>
                    <a:pt x="1946502" y="5556"/>
                    <a:pt x="1956392" y="15447"/>
                  </a:cubicBezTo>
                  <a:cubicBezTo>
                    <a:pt x="1966283" y="25337"/>
                    <a:pt x="1971839" y="38751"/>
                    <a:pt x="1971839" y="52738"/>
                  </a:cubicBezTo>
                  <a:lnTo>
                    <a:pt x="1971839" y="217977"/>
                  </a:lnTo>
                  <a:cubicBezTo>
                    <a:pt x="1971839" y="231964"/>
                    <a:pt x="1966283" y="245378"/>
                    <a:pt x="1956392" y="255268"/>
                  </a:cubicBezTo>
                  <a:cubicBezTo>
                    <a:pt x="1946502" y="265158"/>
                    <a:pt x="1933088" y="270714"/>
                    <a:pt x="1919101" y="270714"/>
                  </a:cubicBezTo>
                  <a:lnTo>
                    <a:pt x="52738" y="270714"/>
                  </a:lnTo>
                  <a:cubicBezTo>
                    <a:pt x="38751" y="270714"/>
                    <a:pt x="25337" y="265158"/>
                    <a:pt x="15447" y="255268"/>
                  </a:cubicBezTo>
                  <a:cubicBezTo>
                    <a:pt x="5556" y="245378"/>
                    <a:pt x="0" y="231964"/>
                    <a:pt x="0" y="217977"/>
                  </a:cubicBezTo>
                  <a:lnTo>
                    <a:pt x="0" y="52738"/>
                  </a:lnTo>
                  <a:cubicBezTo>
                    <a:pt x="0" y="38751"/>
                    <a:pt x="5556" y="25337"/>
                    <a:pt x="15447" y="15447"/>
                  </a:cubicBezTo>
                  <a:cubicBezTo>
                    <a:pt x="25337" y="5556"/>
                    <a:pt x="38751" y="0"/>
                    <a:pt x="52738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1971839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924709" y="789927"/>
            <a:ext cx="682406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07 - DATA FLOW DIAGRAM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432585" y="2072211"/>
            <a:ext cx="7486826" cy="1027869"/>
            <a:chOff x="0" y="0"/>
            <a:chExt cx="1971839" cy="27071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71839" cy="270714"/>
            </a:xfrm>
            <a:custGeom>
              <a:avLst/>
              <a:gdLst/>
              <a:ahLst/>
              <a:cxnLst/>
              <a:rect l="l" t="t" r="r" b="b"/>
              <a:pathLst>
                <a:path w="1971839" h="270714">
                  <a:moveTo>
                    <a:pt x="52738" y="0"/>
                  </a:moveTo>
                  <a:lnTo>
                    <a:pt x="1919101" y="0"/>
                  </a:lnTo>
                  <a:cubicBezTo>
                    <a:pt x="1933088" y="0"/>
                    <a:pt x="1946502" y="5556"/>
                    <a:pt x="1956392" y="15447"/>
                  </a:cubicBezTo>
                  <a:cubicBezTo>
                    <a:pt x="1966283" y="25337"/>
                    <a:pt x="1971839" y="38751"/>
                    <a:pt x="1971839" y="52738"/>
                  </a:cubicBezTo>
                  <a:lnTo>
                    <a:pt x="1971839" y="217977"/>
                  </a:lnTo>
                  <a:cubicBezTo>
                    <a:pt x="1971839" y="231964"/>
                    <a:pt x="1966283" y="245378"/>
                    <a:pt x="1956392" y="255268"/>
                  </a:cubicBezTo>
                  <a:cubicBezTo>
                    <a:pt x="1946502" y="265158"/>
                    <a:pt x="1933088" y="270714"/>
                    <a:pt x="1919101" y="270714"/>
                  </a:cubicBezTo>
                  <a:lnTo>
                    <a:pt x="52738" y="270714"/>
                  </a:lnTo>
                  <a:cubicBezTo>
                    <a:pt x="38751" y="270714"/>
                    <a:pt x="25337" y="265158"/>
                    <a:pt x="15447" y="255268"/>
                  </a:cubicBezTo>
                  <a:cubicBezTo>
                    <a:pt x="5556" y="245378"/>
                    <a:pt x="0" y="231964"/>
                    <a:pt x="0" y="217977"/>
                  </a:cubicBezTo>
                  <a:lnTo>
                    <a:pt x="0" y="52738"/>
                  </a:lnTo>
                  <a:cubicBezTo>
                    <a:pt x="0" y="38751"/>
                    <a:pt x="5556" y="25337"/>
                    <a:pt x="15447" y="15447"/>
                  </a:cubicBezTo>
                  <a:cubicBezTo>
                    <a:pt x="25337" y="5556"/>
                    <a:pt x="38751" y="0"/>
                    <a:pt x="52738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971839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924709" y="2273408"/>
            <a:ext cx="682406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08 - USE CASE DIAGRAM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432585" y="3851383"/>
            <a:ext cx="7486826" cy="1027869"/>
            <a:chOff x="0" y="0"/>
            <a:chExt cx="1971839" cy="27071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71839" cy="270714"/>
            </a:xfrm>
            <a:custGeom>
              <a:avLst/>
              <a:gdLst/>
              <a:ahLst/>
              <a:cxnLst/>
              <a:rect l="l" t="t" r="r" b="b"/>
              <a:pathLst>
                <a:path w="1971839" h="270714">
                  <a:moveTo>
                    <a:pt x="52738" y="0"/>
                  </a:moveTo>
                  <a:lnTo>
                    <a:pt x="1919101" y="0"/>
                  </a:lnTo>
                  <a:cubicBezTo>
                    <a:pt x="1933088" y="0"/>
                    <a:pt x="1946502" y="5556"/>
                    <a:pt x="1956392" y="15447"/>
                  </a:cubicBezTo>
                  <a:cubicBezTo>
                    <a:pt x="1966283" y="25337"/>
                    <a:pt x="1971839" y="38751"/>
                    <a:pt x="1971839" y="52738"/>
                  </a:cubicBezTo>
                  <a:lnTo>
                    <a:pt x="1971839" y="217977"/>
                  </a:lnTo>
                  <a:cubicBezTo>
                    <a:pt x="1971839" y="231964"/>
                    <a:pt x="1966283" y="245378"/>
                    <a:pt x="1956392" y="255268"/>
                  </a:cubicBezTo>
                  <a:cubicBezTo>
                    <a:pt x="1946502" y="265158"/>
                    <a:pt x="1933088" y="270714"/>
                    <a:pt x="1919101" y="270714"/>
                  </a:cubicBezTo>
                  <a:lnTo>
                    <a:pt x="52738" y="270714"/>
                  </a:lnTo>
                  <a:cubicBezTo>
                    <a:pt x="38751" y="270714"/>
                    <a:pt x="25337" y="265158"/>
                    <a:pt x="15447" y="255268"/>
                  </a:cubicBezTo>
                  <a:cubicBezTo>
                    <a:pt x="5556" y="245378"/>
                    <a:pt x="0" y="231964"/>
                    <a:pt x="0" y="217977"/>
                  </a:cubicBezTo>
                  <a:lnTo>
                    <a:pt x="0" y="52738"/>
                  </a:lnTo>
                  <a:cubicBezTo>
                    <a:pt x="0" y="38751"/>
                    <a:pt x="5556" y="25337"/>
                    <a:pt x="15447" y="15447"/>
                  </a:cubicBezTo>
                  <a:cubicBezTo>
                    <a:pt x="25337" y="5556"/>
                    <a:pt x="38751" y="0"/>
                    <a:pt x="52738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19050"/>
              <a:ext cx="1971839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924709" y="4052580"/>
            <a:ext cx="682406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09 - USE CASE SCENARIO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432585" y="5630555"/>
            <a:ext cx="7486826" cy="1027869"/>
            <a:chOff x="0" y="0"/>
            <a:chExt cx="1971839" cy="27071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71839" cy="270714"/>
            </a:xfrm>
            <a:custGeom>
              <a:avLst/>
              <a:gdLst/>
              <a:ahLst/>
              <a:cxnLst/>
              <a:rect l="l" t="t" r="r" b="b"/>
              <a:pathLst>
                <a:path w="1971839" h="270714">
                  <a:moveTo>
                    <a:pt x="52738" y="0"/>
                  </a:moveTo>
                  <a:lnTo>
                    <a:pt x="1919101" y="0"/>
                  </a:lnTo>
                  <a:cubicBezTo>
                    <a:pt x="1933088" y="0"/>
                    <a:pt x="1946502" y="5556"/>
                    <a:pt x="1956392" y="15447"/>
                  </a:cubicBezTo>
                  <a:cubicBezTo>
                    <a:pt x="1966283" y="25337"/>
                    <a:pt x="1971839" y="38751"/>
                    <a:pt x="1971839" y="52738"/>
                  </a:cubicBezTo>
                  <a:lnTo>
                    <a:pt x="1971839" y="217977"/>
                  </a:lnTo>
                  <a:cubicBezTo>
                    <a:pt x="1971839" y="231964"/>
                    <a:pt x="1966283" y="245378"/>
                    <a:pt x="1956392" y="255268"/>
                  </a:cubicBezTo>
                  <a:cubicBezTo>
                    <a:pt x="1946502" y="265158"/>
                    <a:pt x="1933088" y="270714"/>
                    <a:pt x="1919101" y="270714"/>
                  </a:cubicBezTo>
                  <a:lnTo>
                    <a:pt x="52738" y="270714"/>
                  </a:lnTo>
                  <a:cubicBezTo>
                    <a:pt x="38751" y="270714"/>
                    <a:pt x="25337" y="265158"/>
                    <a:pt x="15447" y="255268"/>
                  </a:cubicBezTo>
                  <a:cubicBezTo>
                    <a:pt x="5556" y="245378"/>
                    <a:pt x="0" y="231964"/>
                    <a:pt x="0" y="217977"/>
                  </a:cubicBezTo>
                  <a:lnTo>
                    <a:pt x="0" y="52738"/>
                  </a:lnTo>
                  <a:cubicBezTo>
                    <a:pt x="0" y="38751"/>
                    <a:pt x="5556" y="25337"/>
                    <a:pt x="15447" y="15447"/>
                  </a:cubicBezTo>
                  <a:cubicBezTo>
                    <a:pt x="25337" y="5556"/>
                    <a:pt x="38751" y="0"/>
                    <a:pt x="52738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9050"/>
              <a:ext cx="1971839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924709" y="5831752"/>
            <a:ext cx="682406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10 - ER DIAGRAM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432585" y="7143594"/>
            <a:ext cx="7486826" cy="1027869"/>
            <a:chOff x="0" y="0"/>
            <a:chExt cx="1971839" cy="27071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971839" cy="270714"/>
            </a:xfrm>
            <a:custGeom>
              <a:avLst/>
              <a:gdLst/>
              <a:ahLst/>
              <a:cxnLst/>
              <a:rect l="l" t="t" r="r" b="b"/>
              <a:pathLst>
                <a:path w="1971839" h="270714">
                  <a:moveTo>
                    <a:pt x="52738" y="0"/>
                  </a:moveTo>
                  <a:lnTo>
                    <a:pt x="1919101" y="0"/>
                  </a:lnTo>
                  <a:cubicBezTo>
                    <a:pt x="1933088" y="0"/>
                    <a:pt x="1946502" y="5556"/>
                    <a:pt x="1956392" y="15447"/>
                  </a:cubicBezTo>
                  <a:cubicBezTo>
                    <a:pt x="1966283" y="25337"/>
                    <a:pt x="1971839" y="38751"/>
                    <a:pt x="1971839" y="52738"/>
                  </a:cubicBezTo>
                  <a:lnTo>
                    <a:pt x="1971839" y="217977"/>
                  </a:lnTo>
                  <a:cubicBezTo>
                    <a:pt x="1971839" y="231964"/>
                    <a:pt x="1966283" y="245378"/>
                    <a:pt x="1956392" y="255268"/>
                  </a:cubicBezTo>
                  <a:cubicBezTo>
                    <a:pt x="1946502" y="265158"/>
                    <a:pt x="1933088" y="270714"/>
                    <a:pt x="1919101" y="270714"/>
                  </a:cubicBezTo>
                  <a:lnTo>
                    <a:pt x="52738" y="270714"/>
                  </a:lnTo>
                  <a:cubicBezTo>
                    <a:pt x="38751" y="270714"/>
                    <a:pt x="25337" y="265158"/>
                    <a:pt x="15447" y="255268"/>
                  </a:cubicBezTo>
                  <a:cubicBezTo>
                    <a:pt x="5556" y="245378"/>
                    <a:pt x="0" y="231964"/>
                    <a:pt x="0" y="217977"/>
                  </a:cubicBezTo>
                  <a:lnTo>
                    <a:pt x="0" y="52738"/>
                  </a:lnTo>
                  <a:cubicBezTo>
                    <a:pt x="0" y="38751"/>
                    <a:pt x="5556" y="25337"/>
                    <a:pt x="15447" y="15447"/>
                  </a:cubicBezTo>
                  <a:cubicBezTo>
                    <a:pt x="25337" y="5556"/>
                    <a:pt x="38751" y="0"/>
                    <a:pt x="52738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19050"/>
              <a:ext cx="1971839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924709" y="7344791"/>
            <a:ext cx="682406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11 - DATABASE DIAGRAM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432585" y="8600693"/>
            <a:ext cx="7486826" cy="1027869"/>
            <a:chOff x="0" y="0"/>
            <a:chExt cx="1971839" cy="27071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71839" cy="270714"/>
            </a:xfrm>
            <a:custGeom>
              <a:avLst/>
              <a:gdLst/>
              <a:ahLst/>
              <a:cxnLst/>
              <a:rect l="l" t="t" r="r" b="b"/>
              <a:pathLst>
                <a:path w="1971839" h="270714">
                  <a:moveTo>
                    <a:pt x="52738" y="0"/>
                  </a:moveTo>
                  <a:lnTo>
                    <a:pt x="1919101" y="0"/>
                  </a:lnTo>
                  <a:cubicBezTo>
                    <a:pt x="1933088" y="0"/>
                    <a:pt x="1946502" y="5556"/>
                    <a:pt x="1956392" y="15447"/>
                  </a:cubicBezTo>
                  <a:cubicBezTo>
                    <a:pt x="1966283" y="25337"/>
                    <a:pt x="1971839" y="38751"/>
                    <a:pt x="1971839" y="52738"/>
                  </a:cubicBezTo>
                  <a:lnTo>
                    <a:pt x="1971839" y="217977"/>
                  </a:lnTo>
                  <a:cubicBezTo>
                    <a:pt x="1971839" y="231964"/>
                    <a:pt x="1966283" y="245378"/>
                    <a:pt x="1956392" y="255268"/>
                  </a:cubicBezTo>
                  <a:cubicBezTo>
                    <a:pt x="1946502" y="265158"/>
                    <a:pt x="1933088" y="270714"/>
                    <a:pt x="1919101" y="270714"/>
                  </a:cubicBezTo>
                  <a:lnTo>
                    <a:pt x="52738" y="270714"/>
                  </a:lnTo>
                  <a:cubicBezTo>
                    <a:pt x="38751" y="270714"/>
                    <a:pt x="25337" y="265158"/>
                    <a:pt x="15447" y="255268"/>
                  </a:cubicBezTo>
                  <a:cubicBezTo>
                    <a:pt x="5556" y="245378"/>
                    <a:pt x="0" y="231964"/>
                    <a:pt x="0" y="217977"/>
                  </a:cubicBezTo>
                  <a:lnTo>
                    <a:pt x="0" y="52738"/>
                  </a:lnTo>
                  <a:cubicBezTo>
                    <a:pt x="0" y="38751"/>
                    <a:pt x="5556" y="25337"/>
                    <a:pt x="15447" y="15447"/>
                  </a:cubicBezTo>
                  <a:cubicBezTo>
                    <a:pt x="25337" y="5556"/>
                    <a:pt x="38751" y="0"/>
                    <a:pt x="52738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19050"/>
              <a:ext cx="1971839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924709" y="8801889"/>
            <a:ext cx="682406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12 - DATA DICTIONARY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028700" y="588730"/>
            <a:ext cx="7706220" cy="1027869"/>
            <a:chOff x="0" y="0"/>
            <a:chExt cx="2029622" cy="27071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29622" cy="270714"/>
            </a:xfrm>
            <a:custGeom>
              <a:avLst/>
              <a:gdLst/>
              <a:ahLst/>
              <a:cxnLst/>
              <a:rect l="l" t="t" r="r" b="b"/>
              <a:pathLst>
                <a:path w="2029622" h="270714">
                  <a:moveTo>
                    <a:pt x="51236" y="0"/>
                  </a:moveTo>
                  <a:lnTo>
                    <a:pt x="1978385" y="0"/>
                  </a:lnTo>
                  <a:cubicBezTo>
                    <a:pt x="1991974" y="0"/>
                    <a:pt x="2005006" y="5398"/>
                    <a:pt x="2014615" y="15007"/>
                  </a:cubicBezTo>
                  <a:cubicBezTo>
                    <a:pt x="2024224" y="24615"/>
                    <a:pt x="2029622" y="37648"/>
                    <a:pt x="2029622" y="51236"/>
                  </a:cubicBezTo>
                  <a:lnTo>
                    <a:pt x="2029622" y="219478"/>
                  </a:lnTo>
                  <a:cubicBezTo>
                    <a:pt x="2029622" y="233067"/>
                    <a:pt x="2024224" y="246099"/>
                    <a:pt x="2014615" y="255708"/>
                  </a:cubicBezTo>
                  <a:cubicBezTo>
                    <a:pt x="2005006" y="265316"/>
                    <a:pt x="1991974" y="270714"/>
                    <a:pt x="1978385" y="270714"/>
                  </a:cubicBezTo>
                  <a:lnTo>
                    <a:pt x="51236" y="270714"/>
                  </a:lnTo>
                  <a:cubicBezTo>
                    <a:pt x="37648" y="270714"/>
                    <a:pt x="24615" y="265316"/>
                    <a:pt x="15007" y="255708"/>
                  </a:cubicBezTo>
                  <a:cubicBezTo>
                    <a:pt x="5398" y="246099"/>
                    <a:pt x="0" y="233067"/>
                    <a:pt x="0" y="219478"/>
                  </a:cubicBezTo>
                  <a:lnTo>
                    <a:pt x="0" y="51236"/>
                  </a:lnTo>
                  <a:cubicBezTo>
                    <a:pt x="0" y="37648"/>
                    <a:pt x="5398" y="24615"/>
                    <a:pt x="15007" y="15007"/>
                  </a:cubicBezTo>
                  <a:cubicBezTo>
                    <a:pt x="24615" y="5398"/>
                    <a:pt x="37648" y="0"/>
                    <a:pt x="51236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19050"/>
              <a:ext cx="2029622" cy="25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520824" y="789927"/>
            <a:ext cx="682406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01 - SYSTEM REQUEST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28700" y="3851383"/>
            <a:ext cx="8283287" cy="1321972"/>
            <a:chOff x="0" y="0"/>
            <a:chExt cx="2181607" cy="34817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81607" cy="348174"/>
            </a:xfrm>
            <a:custGeom>
              <a:avLst/>
              <a:gdLst/>
              <a:ahLst/>
              <a:cxnLst/>
              <a:rect l="l" t="t" r="r" b="b"/>
              <a:pathLst>
                <a:path w="2181607" h="348174">
                  <a:moveTo>
                    <a:pt x="47667" y="0"/>
                  </a:moveTo>
                  <a:lnTo>
                    <a:pt x="2133940" y="0"/>
                  </a:lnTo>
                  <a:cubicBezTo>
                    <a:pt x="2146582" y="0"/>
                    <a:pt x="2158706" y="5022"/>
                    <a:pt x="2167645" y="13961"/>
                  </a:cubicBezTo>
                  <a:cubicBezTo>
                    <a:pt x="2176585" y="22901"/>
                    <a:pt x="2181607" y="35025"/>
                    <a:pt x="2181607" y="47667"/>
                  </a:cubicBezTo>
                  <a:lnTo>
                    <a:pt x="2181607" y="300507"/>
                  </a:lnTo>
                  <a:cubicBezTo>
                    <a:pt x="2181607" y="326833"/>
                    <a:pt x="2160265" y="348174"/>
                    <a:pt x="2133940" y="348174"/>
                  </a:cubicBezTo>
                  <a:lnTo>
                    <a:pt x="47667" y="348174"/>
                  </a:lnTo>
                  <a:cubicBezTo>
                    <a:pt x="21341" y="348174"/>
                    <a:pt x="0" y="326833"/>
                    <a:pt x="0" y="300507"/>
                  </a:cubicBezTo>
                  <a:lnTo>
                    <a:pt x="0" y="47667"/>
                  </a:lnTo>
                  <a:cubicBezTo>
                    <a:pt x="0" y="21341"/>
                    <a:pt x="21341" y="0"/>
                    <a:pt x="47667" y="0"/>
                  </a:cubicBezTo>
                  <a:close/>
                </a:path>
              </a:pathLst>
            </a:custGeom>
            <a:solidFill>
              <a:srgbClr val="227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19050"/>
              <a:ext cx="2181607" cy="329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281297" y="3956574"/>
            <a:ext cx="7807594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03 - OPERATIONAL FEASIBILITY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B5F11F80-69CD-51F3-CC94-A7BA00F790F8}"/>
              </a:ext>
            </a:extLst>
          </p:cNvPr>
          <p:cNvSpPr txBox="1"/>
          <p:nvPr/>
        </p:nvSpPr>
        <p:spPr>
          <a:xfrm>
            <a:off x="1898788" y="1570058"/>
            <a:ext cx="8000829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 dirty="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01 - SYSTEM REQUEST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445EBB-E248-6A79-DD8D-CF4FFE48BF5B}"/>
              </a:ext>
            </a:extLst>
          </p:cNvPr>
          <p:cNvSpPr txBox="1"/>
          <p:nvPr/>
        </p:nvSpPr>
        <p:spPr>
          <a:xfrm>
            <a:off x="3276430" y="2521996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9" name="TextBox 18">
            <a:hlinkClick r:id="rId8"/>
            <a:extLst>
              <a:ext uri="{FF2B5EF4-FFF2-40B4-BE49-F238E27FC236}">
                <a16:creationId xmlns:a16="http://schemas.microsoft.com/office/drawing/2014/main" id="{3A969E91-357D-7940-9DE8-E38F22DA39B6}"/>
              </a:ext>
            </a:extLst>
          </p:cNvPr>
          <p:cNvSpPr txBox="1"/>
          <p:nvPr/>
        </p:nvSpPr>
        <p:spPr>
          <a:xfrm>
            <a:off x="3768213" y="4203073"/>
            <a:ext cx="5147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8"/>
              </a:rPr>
              <a:t>Click on me -&gt; (ctrl + click)</a:t>
            </a:r>
            <a:endParaRPr lang="en-US" sz="3200" dirty="0"/>
          </a:p>
        </p:txBody>
      </p:sp>
      <p:pic>
        <p:nvPicPr>
          <p:cNvPr id="20" name="Graphic 19" descr="Link with solid fill">
            <a:extLst>
              <a:ext uri="{FF2B5EF4-FFF2-40B4-BE49-F238E27FC236}">
                <a16:creationId xmlns:a16="http://schemas.microsoft.com/office/drawing/2014/main" id="{A7D3EC60-685E-FD1F-7FF4-2223020595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14293499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02 - TECHNICAL FEASIBLILTY STUDY: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611EB6-BD44-1A8F-C936-133F9799C35C}"/>
              </a:ext>
            </a:extLst>
          </p:cNvPr>
          <p:cNvSpPr txBox="1"/>
          <p:nvPr/>
        </p:nvSpPr>
        <p:spPr>
          <a:xfrm>
            <a:off x="3276430" y="2521996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542FCEFA-EB0E-31D8-283B-AE3E68C6DA1C}"/>
              </a:ext>
            </a:extLst>
          </p:cNvPr>
          <p:cNvSpPr txBox="1">
            <a:spLocks/>
          </p:cNvSpPr>
          <p:nvPr/>
        </p:nvSpPr>
        <p:spPr>
          <a:xfrm>
            <a:off x="3768213" y="4203073"/>
            <a:ext cx="5375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6C27A2A3-6F56-FF6D-E3C0-9521BA5100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14070725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03 - OPERATIONAL FEASIBILITY STUDY: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463814-535B-2FAC-236F-AA2C9C67ADAC}"/>
              </a:ext>
            </a:extLst>
          </p:cNvPr>
          <p:cNvSpPr txBox="1"/>
          <p:nvPr/>
        </p:nvSpPr>
        <p:spPr>
          <a:xfrm>
            <a:off x="3276430" y="2521996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2EAEB4D6-AB18-0FE2-E623-7B3B5E055AD9}"/>
              </a:ext>
            </a:extLst>
          </p:cNvPr>
          <p:cNvSpPr txBox="1"/>
          <p:nvPr/>
        </p:nvSpPr>
        <p:spPr>
          <a:xfrm>
            <a:off x="3768213" y="4203073"/>
            <a:ext cx="5375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57D6C364-4778-8368-48C6-FD8E70C535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6099416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04 - INTERVIEW: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5DF70E-2F13-F5D3-DB02-2A038DABCCFE}"/>
              </a:ext>
            </a:extLst>
          </p:cNvPr>
          <p:cNvSpPr txBox="1"/>
          <p:nvPr/>
        </p:nvSpPr>
        <p:spPr>
          <a:xfrm>
            <a:off x="3276430" y="2521996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E53FC789-C4D3-5D03-6183-1D7A69233C04}"/>
              </a:ext>
            </a:extLst>
          </p:cNvPr>
          <p:cNvSpPr txBox="1"/>
          <p:nvPr/>
        </p:nvSpPr>
        <p:spPr>
          <a:xfrm>
            <a:off x="3768213" y="4203073"/>
            <a:ext cx="5223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F4DD08D8-44C3-424B-4524-D6A578103B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8000829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05 - QUESTIONNAIRE: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BEFF4-F2B0-CC07-F62C-31B79D1711EC}"/>
              </a:ext>
            </a:extLst>
          </p:cNvPr>
          <p:cNvSpPr txBox="1"/>
          <p:nvPr/>
        </p:nvSpPr>
        <p:spPr>
          <a:xfrm>
            <a:off x="3276430" y="2496648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100484E0-7735-2B5A-89F4-0A0A8C051410}"/>
              </a:ext>
            </a:extLst>
          </p:cNvPr>
          <p:cNvSpPr txBox="1"/>
          <p:nvPr/>
        </p:nvSpPr>
        <p:spPr>
          <a:xfrm>
            <a:off x="3768213" y="4177725"/>
            <a:ext cx="5147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A1A4915E-D702-4B39-6431-83BD1B2AE6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33107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9075376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 dirty="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06 - CONTEXT DIAGRAM: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67AD2-F307-8D8D-D3D4-C38FDF895245}"/>
              </a:ext>
            </a:extLst>
          </p:cNvPr>
          <p:cNvSpPr txBox="1"/>
          <p:nvPr/>
        </p:nvSpPr>
        <p:spPr>
          <a:xfrm>
            <a:off x="3276430" y="2496648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DE74B8B3-7A04-1396-A28C-CF81913F05E9}"/>
              </a:ext>
            </a:extLst>
          </p:cNvPr>
          <p:cNvSpPr txBox="1"/>
          <p:nvPr/>
        </p:nvSpPr>
        <p:spPr>
          <a:xfrm>
            <a:off x="3768213" y="4177725"/>
            <a:ext cx="5375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40DF33DE-105C-3557-EE02-767715152E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33107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9643283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07 - DATA FLOW DIAGRAM: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E55549-4915-3417-B93E-D1F69C56EDDE}"/>
              </a:ext>
            </a:extLst>
          </p:cNvPr>
          <p:cNvSpPr txBox="1"/>
          <p:nvPr/>
        </p:nvSpPr>
        <p:spPr>
          <a:xfrm>
            <a:off x="3276430" y="2476500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90CCB85D-9A5C-CE93-30F4-84A1FF118D55}"/>
              </a:ext>
            </a:extLst>
          </p:cNvPr>
          <p:cNvSpPr txBox="1"/>
          <p:nvPr/>
        </p:nvSpPr>
        <p:spPr>
          <a:xfrm>
            <a:off x="3768213" y="4157577"/>
            <a:ext cx="5375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FC04981C-8BF9-CF03-BC77-B12FD7EDB5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12959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9007164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08 - USE CASE DIAGRAM: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AC29D-4694-F4FE-DD51-0C7FE8652AF3}"/>
              </a:ext>
            </a:extLst>
          </p:cNvPr>
          <p:cNvSpPr txBox="1"/>
          <p:nvPr/>
        </p:nvSpPr>
        <p:spPr>
          <a:xfrm>
            <a:off x="3276430" y="2628900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45E2B073-55F0-AB97-BF00-34B52C5B7251}"/>
              </a:ext>
            </a:extLst>
          </p:cNvPr>
          <p:cNvSpPr txBox="1"/>
          <p:nvPr/>
        </p:nvSpPr>
        <p:spPr>
          <a:xfrm>
            <a:off x="3768213" y="4309977"/>
            <a:ext cx="5147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52484DF6-209A-35D2-0B6E-DCEE5D304C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365359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9670917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09 - USE CASE SCENARIO: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07F02B-8828-E5CB-D937-79B9B121B697}"/>
              </a:ext>
            </a:extLst>
          </p:cNvPr>
          <p:cNvSpPr txBox="1"/>
          <p:nvPr/>
        </p:nvSpPr>
        <p:spPr>
          <a:xfrm>
            <a:off x="3276430" y="2552700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03D088F0-B2D2-D2A7-2EF3-E9E759C19DC5}"/>
              </a:ext>
            </a:extLst>
          </p:cNvPr>
          <p:cNvSpPr txBox="1"/>
          <p:nvPr/>
        </p:nvSpPr>
        <p:spPr>
          <a:xfrm>
            <a:off x="3768213" y="4233777"/>
            <a:ext cx="5375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905A65D8-44D1-9E26-2987-A4152B2BB0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89159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8000829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10 - ER DIAGRAM: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295488-3879-0A43-958A-4601AD580398}"/>
              </a:ext>
            </a:extLst>
          </p:cNvPr>
          <p:cNvSpPr txBox="1"/>
          <p:nvPr/>
        </p:nvSpPr>
        <p:spPr>
          <a:xfrm>
            <a:off x="3276430" y="2521996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48F12F24-9F36-D8B1-E009-327C6EFA1B08}"/>
              </a:ext>
            </a:extLst>
          </p:cNvPr>
          <p:cNvSpPr txBox="1"/>
          <p:nvPr/>
        </p:nvSpPr>
        <p:spPr>
          <a:xfrm>
            <a:off x="3768213" y="4203073"/>
            <a:ext cx="5223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5C3C0B9D-E90E-8D6F-C660-4A4FD10CB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9499626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11 - DATABASE DIAGRAM: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53EDA-3535-FC12-BED6-C003A3BE069B}"/>
              </a:ext>
            </a:extLst>
          </p:cNvPr>
          <p:cNvSpPr txBox="1"/>
          <p:nvPr/>
        </p:nvSpPr>
        <p:spPr>
          <a:xfrm>
            <a:off x="3276430" y="2521996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E9BA7D85-E533-D0A0-6A58-F08075593A22}"/>
              </a:ext>
            </a:extLst>
          </p:cNvPr>
          <p:cNvSpPr txBox="1"/>
          <p:nvPr/>
        </p:nvSpPr>
        <p:spPr>
          <a:xfrm>
            <a:off x="3768213" y="4203073"/>
            <a:ext cx="5147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E52FB50A-AA54-4AD5-E69D-0727E8E515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98788" y="1570058"/>
            <a:ext cx="9499626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5600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12 - DATA DICTIONARY: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BAC61-E1A5-2356-8E05-74C1D8C40C84}"/>
              </a:ext>
            </a:extLst>
          </p:cNvPr>
          <p:cNvSpPr txBox="1"/>
          <p:nvPr/>
        </p:nvSpPr>
        <p:spPr>
          <a:xfrm>
            <a:off x="3276430" y="2521996"/>
            <a:ext cx="344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E6D73"/>
                </a:solidFill>
                <a:latin typeface="Kollektif Bold"/>
                <a:sym typeface="Kollektif Bold"/>
              </a:rPr>
              <a:t>Pls click on the hyperlink below to view the file:</a:t>
            </a:r>
            <a:endParaRPr lang="en-US" sz="2800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4187C33C-B814-B83E-F830-D1E25D06D981}"/>
              </a:ext>
            </a:extLst>
          </p:cNvPr>
          <p:cNvSpPr txBox="1"/>
          <p:nvPr/>
        </p:nvSpPr>
        <p:spPr>
          <a:xfrm>
            <a:off x="3768213" y="4203073"/>
            <a:ext cx="5147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A90D6A45-712B-2704-1D9D-5576D6DF68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4FF39-268F-264C-3A73-3DFE80A4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B48FC2-BB6D-BBDC-9DE9-B16C78B9A4B1}"/>
              </a:ext>
            </a:extLst>
          </p:cNvPr>
          <p:cNvGrpSpPr/>
          <p:nvPr/>
        </p:nvGrpSpPr>
        <p:grpSpPr>
          <a:xfrm rot="2700000">
            <a:off x="-3166134" y="-4341298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4DCE12-34C8-7086-4DA5-3BD87D798B6B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AACA9DF-DC90-CC80-D07C-15C3B6CCFBC7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4A497BFF-DEA2-5909-B88A-8FBCE739853B}"/>
              </a:ext>
            </a:extLst>
          </p:cNvPr>
          <p:cNvSpPr/>
          <p:nvPr/>
        </p:nvSpPr>
        <p:spPr>
          <a:xfrm>
            <a:off x="-3628748" y="-3521748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5168401-C13F-6CE8-3125-157C1C983D18}"/>
              </a:ext>
            </a:extLst>
          </p:cNvPr>
          <p:cNvSpPr/>
          <p:nvPr/>
        </p:nvSpPr>
        <p:spPr>
          <a:xfrm>
            <a:off x="-3842695" y="-320907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1939F6D-B0D8-ECC3-F483-D65598FE81AD}"/>
              </a:ext>
            </a:extLst>
          </p:cNvPr>
          <p:cNvSpPr/>
          <p:nvPr/>
        </p:nvSpPr>
        <p:spPr>
          <a:xfrm>
            <a:off x="-4022296" y="-2850601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46F17CD-36D4-9B8E-901B-767532FFBEB2}"/>
              </a:ext>
            </a:extLst>
          </p:cNvPr>
          <p:cNvSpPr/>
          <p:nvPr/>
        </p:nvSpPr>
        <p:spPr>
          <a:xfrm>
            <a:off x="-4148951" y="-2464334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3C9D757-077E-A9A9-A3C7-8264F5123B97}"/>
              </a:ext>
            </a:extLst>
          </p:cNvPr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94682F6-5A38-5976-03F3-C5705986947A}"/>
              </a:ext>
            </a:extLst>
          </p:cNvPr>
          <p:cNvSpPr/>
          <p:nvPr/>
        </p:nvSpPr>
        <p:spPr>
          <a:xfrm rot="-10800000">
            <a:off x="16192287" y="706210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1097032-2ADD-3AD1-FADD-C665C3948040}"/>
              </a:ext>
            </a:extLst>
          </p:cNvPr>
          <p:cNvSpPr/>
          <p:nvPr/>
        </p:nvSpPr>
        <p:spPr>
          <a:xfrm>
            <a:off x="17266571" y="709068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6A241C7-32CC-0D07-4508-AC32651BD40B}"/>
              </a:ext>
            </a:extLst>
          </p:cNvPr>
          <p:cNvSpPr/>
          <p:nvPr/>
        </p:nvSpPr>
        <p:spPr>
          <a:xfrm>
            <a:off x="16182762" y="81744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53453D2-45FF-B538-22E8-894F79A8810D}"/>
              </a:ext>
            </a:extLst>
          </p:cNvPr>
          <p:cNvSpPr/>
          <p:nvPr/>
        </p:nvSpPr>
        <p:spPr>
          <a:xfrm rot="-10800000">
            <a:off x="16182762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92695B0-DFFF-D2AC-2954-22E91C210655}"/>
              </a:ext>
            </a:extLst>
          </p:cNvPr>
          <p:cNvSpPr/>
          <p:nvPr/>
        </p:nvSpPr>
        <p:spPr>
          <a:xfrm rot="-5400000">
            <a:off x="17266571" y="92583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8BF3D-3445-9826-7C36-64B1C3EAE234}"/>
              </a:ext>
            </a:extLst>
          </p:cNvPr>
          <p:cNvSpPr txBox="1"/>
          <p:nvPr/>
        </p:nvSpPr>
        <p:spPr>
          <a:xfrm>
            <a:off x="3276430" y="2521996"/>
            <a:ext cx="8229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E6D73"/>
                </a:solidFill>
                <a:latin typeface="Kollektif Bold"/>
                <a:sym typeface="Kollektif Bold"/>
              </a:rPr>
              <a:t>TO GO THROUGH ALL FILES, PLS CLICK ON THE HYPERLINK BELOW TO OPEN THE DRIVE LINK:</a:t>
            </a:r>
            <a:endParaRPr lang="en-US" sz="3600" b="1" dirty="0"/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B29AECD4-96D3-6524-6F25-03E758811E48}"/>
              </a:ext>
            </a:extLst>
          </p:cNvPr>
          <p:cNvSpPr txBox="1"/>
          <p:nvPr/>
        </p:nvSpPr>
        <p:spPr>
          <a:xfrm>
            <a:off x="3768213" y="4203073"/>
            <a:ext cx="5223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9"/>
              </a:rPr>
              <a:t>Click on me -&gt; (ctrl + click)</a:t>
            </a:r>
            <a:endParaRPr lang="en-US" sz="3200" dirty="0"/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EB59AAE3-3B55-0048-550C-00BD7166FB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4258455"/>
            <a:ext cx="483227" cy="48322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48E23A-6553-5174-F014-B5344D6E97D7}"/>
              </a:ext>
            </a:extLst>
          </p:cNvPr>
          <p:cNvSpPr txBox="1"/>
          <p:nvPr/>
        </p:nvSpPr>
        <p:spPr>
          <a:xfrm>
            <a:off x="3276430" y="5133516"/>
            <a:ext cx="838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E6D73"/>
                </a:solidFill>
                <a:latin typeface="Kollektif Bold"/>
                <a:sym typeface="Kollektif Bold"/>
              </a:rPr>
              <a:t>YOU CAN ALSO SEE THE </a:t>
            </a:r>
            <a:r>
              <a:rPr lang="en-US" sz="3600" b="1" dirty="0">
                <a:solidFill>
                  <a:srgbClr val="FE6D73"/>
                </a:solidFill>
                <a:latin typeface="Kollektif Bold"/>
                <a:sym typeface="Kollektif Bold"/>
              </a:rPr>
              <a:t>ENTIRE </a:t>
            </a:r>
            <a:r>
              <a:rPr lang="en-GB" sz="3600" b="1" dirty="0">
                <a:solidFill>
                  <a:srgbClr val="FE6D73"/>
                </a:solidFill>
                <a:latin typeface="Kollektif Bold"/>
                <a:sym typeface="Kollektif Bold"/>
              </a:rPr>
              <a:t>PROJECT, INCLUDING THE 1ST SEMESTER PART ON GITHUB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E6D73"/>
                </a:solidFill>
                <a:effectLst/>
                <a:uLnTx/>
                <a:uFillTx/>
                <a:latin typeface="Kollektif Bold"/>
                <a:ea typeface="+mn-ea"/>
                <a:cs typeface="+mn-cs"/>
                <a:sym typeface="Kollektif Bold"/>
              </a:rPr>
              <a:t>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hlinkClick r:id="rId8"/>
            <a:extLst>
              <a:ext uri="{FF2B5EF4-FFF2-40B4-BE49-F238E27FC236}">
                <a16:creationId xmlns:a16="http://schemas.microsoft.com/office/drawing/2014/main" id="{EF73984A-D07D-F202-C451-B061A0381E7A}"/>
              </a:ext>
            </a:extLst>
          </p:cNvPr>
          <p:cNvSpPr txBox="1"/>
          <p:nvPr/>
        </p:nvSpPr>
        <p:spPr>
          <a:xfrm>
            <a:off x="3768213" y="6887842"/>
            <a:ext cx="5528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Kollektif Bold"/>
                <a:sym typeface="Kollektif Bold"/>
                <a:hlinkClick r:id="rId12"/>
              </a:rPr>
              <a:t>Click on me -&gt; (ctrl + click)</a:t>
            </a:r>
            <a:endParaRPr lang="en-US" sz="3200" dirty="0"/>
          </a:p>
        </p:txBody>
      </p:sp>
      <p:pic>
        <p:nvPicPr>
          <p:cNvPr id="25" name="Graphic 24" descr="Link with solid fill">
            <a:extLst>
              <a:ext uri="{FF2B5EF4-FFF2-40B4-BE49-F238E27FC236}">
                <a16:creationId xmlns:a16="http://schemas.microsoft.com/office/drawing/2014/main" id="{E8B1C91A-289F-6FE6-0FB0-E86D40A2D8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27496" y="6943224"/>
            <a:ext cx="483227" cy="48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48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3915" y="3960810"/>
            <a:ext cx="10620170" cy="188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sz="12399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204191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00000" flipH="1" flipV="1">
            <a:off x="17204191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120382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>
            <a:off x="15036573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800000">
            <a:off x="16120382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800000" flipH="1" flipV="1">
            <a:off x="15036573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5400000" flipH="1" flipV="1">
            <a:off x="12770705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10800000" flipH="1" flipV="1">
            <a:off x="12770705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800000">
            <a:off x="9525" y="704415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83809" y="707273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083809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-10800000">
            <a:off x="3321750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321750" y="818511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5400000">
            <a:off x="4405559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3123603" y="5475036"/>
            <a:ext cx="8847511" cy="8855676"/>
            <a:chOff x="0" y="0"/>
            <a:chExt cx="11796681" cy="11807568"/>
          </a:xfrm>
        </p:grpSpPr>
        <p:grpSp>
          <p:nvGrpSpPr>
            <p:cNvPr id="22" name="Group 22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6040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175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3"/>
                  </a:lnSpc>
                </a:pPr>
                <a:endParaRPr/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-2634012" y="-5192964"/>
            <a:ext cx="8847511" cy="8855676"/>
            <a:chOff x="0" y="0"/>
            <a:chExt cx="11796681" cy="11807568"/>
          </a:xfrm>
        </p:grpSpPr>
        <p:grpSp>
          <p:nvGrpSpPr>
            <p:cNvPr id="35" name="Group 35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6040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175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3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507</Words>
  <Application>Microsoft Office PowerPoint</Application>
  <PresentationFormat>Custom</PresentationFormat>
  <Paragraphs>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DM Sans</vt:lpstr>
      <vt:lpstr>Arial</vt:lpstr>
      <vt:lpstr>Kollektif</vt:lpstr>
      <vt:lpstr>Calibri</vt:lpstr>
      <vt:lpstr>Kollektif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 System Development</dc:title>
  <dc:creator>Karim Bekheet</dc:creator>
  <cp:lastModifiedBy>Karim Bekheet</cp:lastModifiedBy>
  <cp:revision>8</cp:revision>
  <dcterms:created xsi:type="dcterms:W3CDTF">2006-08-16T00:00:00Z</dcterms:created>
  <dcterms:modified xsi:type="dcterms:W3CDTF">2025-06-05T15:19:35Z</dcterms:modified>
  <dc:identifier>DAGZMTp1gtI</dc:identifier>
</cp:coreProperties>
</file>